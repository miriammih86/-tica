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custDataLst>
    <p:custData r:id="rId1"/>
    <p:custData r:id="rId2"/>
  </p:custDataLst>
  <p:defaultTextStyle>
    <a:defPPr>
      <a:defRPr lang="pt-BR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+mn-ea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+mn-ea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+mn-ea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A" initials="R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3:54:32" idx="1">
    <p:pos x="3004" y="382"/>
    <p:text>Problemática
Justificativa
Objetivo Geral
Objetivos Específicos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C6443DE1-2776-41DF-BB12-240E711E41BF};" providerId="AD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3:54:32" idx="2">
    <p:pos x="3004" y="382"/>
    <p:text>Problemática
Justificativa
Objetivo Geral
Objetivos Específicos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D44ECDF3-35A1-40AF-938E-A87BEAF47726};" providerId="AD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3:55:59" idx="3">
    <p:pos x="6774" y="708"/>
    <p:text>NÃO MUDAR ESSA FRASE: é uma abordagem qualitativa, de natureza teórica, sem procedimentos práticos e baseados em referenciais teóricos.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85E050F9-66AE-420B-847C-A25171EE924B};" providerId="AD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3:59:15" idx="4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CB66BA77-4741-42CB-827E-B691AA450796};" providerId="AD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3:59:15" idx="5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A6761606-5B7A-405D-BFB6-20D3ACDB3C53};" providerId="AD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4:01:17" idx="6">
    <p:pos x="4500" y="846"/>
    <p:text>Relevância da pesquisa
Proposição de outros estudos e dos estudos práticos (desenvolvimento do sistema)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69F2F214-D4C0-4D91-8BC6-FE48AAA46A1D};" providerId="AD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3-18T14:02:14" idx="7">
    <p:pos x="3404" y="394"/>
    <p:text>As utilizadas no resumo
somentes as citadas no resumo. No formato ABNT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6;RENATA;2;1;0;4;38;{21AE92C1-3802-4B18-902F-09203C72388F};" providerId="AD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8217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43222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8399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91220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470576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19828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8878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882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25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44E69F-79B6-79EE-AD8C-0A492D8D166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966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347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763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4161B-3BF1-C4A5-F8AE-348E1A9A724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6269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214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561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0BE184-C927-3690-D6EA-7EBE9C51D84B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6286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2594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66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B1379-0121-4757-EF03-2F9739E10688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085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54478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91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3B1F6D-E05A-201E-34FA-05D66A3FE670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9039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72331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605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28F718-7EF0-4DEF-8887-B3FC30C1AB81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82046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55652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748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122E3D-4344-3E6D-2C62-3406D89F992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8694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7454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768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CEDC4E-DFB9-E2F8-CBE6-07A6DF8FF47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9172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5690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556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798716-2CCA-F8EC-947B-F73C4515C52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4792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46807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142D8-8D0B-3A1C-3DF4-604E91F7954D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6755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09906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230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487231-5A09-C12F-592B-8C9BA798BA5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482525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465976148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2524304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t>14/10/2026</a:t>
            </a:fld>
            <a:endParaRPr lang="pt-BR"/>
          </a:p>
        </p:txBody>
      </p:sp>
      <p:sp>
        <p:nvSpPr>
          <p:cNvPr id="308477292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8729682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94533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424282890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163091497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t>14/10/2026</a:t>
            </a:fld>
            <a:endParaRPr lang="pt-BR"/>
          </a:p>
        </p:txBody>
      </p:sp>
      <p:sp>
        <p:nvSpPr>
          <p:cNvPr id="536404577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117966752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621623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33051351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76797008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t>14/10/2026</a:t>
            </a:fld>
            <a:endParaRPr lang="pt-BR"/>
          </a:p>
        </p:txBody>
      </p:sp>
      <p:sp>
        <p:nvSpPr>
          <p:cNvPr id="46415723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97101264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63747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880940614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751306158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62886962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t>14/10/2026</a:t>
            </a:fld>
            <a:endParaRPr lang="pt-BR"/>
          </a:p>
        </p:txBody>
      </p:sp>
      <p:sp>
        <p:nvSpPr>
          <p:cNvPr id="532957644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65394855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826904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503625380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850833905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751287469" name="Espaço Reservado para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572218802" name="Espaço Reservado para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384807541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t>14/10/2026</a:t>
            </a:fld>
            <a:endParaRPr lang="pt-BR"/>
          </a:p>
        </p:txBody>
      </p:sp>
      <p:sp>
        <p:nvSpPr>
          <p:cNvPr id="181061356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109573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42730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2013111646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t>14/10/2026</a:t>
            </a:fld>
            <a:endParaRPr lang="pt-BR"/>
          </a:p>
        </p:txBody>
      </p:sp>
      <p:sp>
        <p:nvSpPr>
          <p:cNvPr id="79227956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96305767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47843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t>14/10/2026</a:t>
            </a:fld>
            <a:endParaRPr lang="pt-BR"/>
          </a:p>
        </p:txBody>
      </p:sp>
      <p:sp>
        <p:nvSpPr>
          <p:cNvPr id="1219794296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59292509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680944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19778643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706560407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521063977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t>14/10/2026</a:t>
            </a:fld>
            <a:endParaRPr lang="pt-BR"/>
          </a:p>
        </p:txBody>
      </p:sp>
      <p:sp>
        <p:nvSpPr>
          <p:cNvPr id="1190016781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77345624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310829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469448549" name="Espaço Reservado para Imagem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pt-BR"/>
          </a:p>
        </p:txBody>
      </p:sp>
      <p:sp>
        <p:nvSpPr>
          <p:cNvPr id="1417635957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691195140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t>14/10/2026</a:t>
            </a:fld>
            <a:endParaRPr lang="pt-BR"/>
          </a:p>
        </p:txBody>
      </p:sp>
      <p:sp>
        <p:nvSpPr>
          <p:cNvPr id="42850070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65726595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26086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649940155" name="Espaço Reservado para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980938177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t>14/10/2026</a:t>
            </a:fld>
            <a:endParaRPr lang="pt-BR"/>
          </a:p>
        </p:txBody>
      </p:sp>
      <p:sp>
        <p:nvSpPr>
          <p:cNvPr id="1282130251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141041141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973415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865893977" name="Espaço Reservado para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232227850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t>14/10/2026</a:t>
            </a:fld>
            <a:endParaRPr lang="pt-BR"/>
          </a:p>
        </p:txBody>
      </p:sp>
      <p:sp>
        <p:nvSpPr>
          <p:cNvPr id="962504961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6958154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77512" name="Espaço Reservado para Título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945791620" name="Espaço Reservado para Texto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860507719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t>14/10/2026</a:t>
            </a:fld>
            <a:endParaRPr lang="pt-BR"/>
          </a:p>
        </p:txBody>
      </p:sp>
      <p:sp>
        <p:nvSpPr>
          <p:cNvPr id="536435133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0765147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2pPr>
      <a:lvl3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3pPr>
      <a:lvl4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4pPr>
      <a:lvl5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5pPr>
      <a:lvl6pPr marL="4572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6pPr>
      <a:lvl7pPr marL="9144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7pPr>
      <a:lvl8pPr marL="13716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8pPr>
      <a:lvl9pPr marL="18288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>
        <a:lnSpc>
          <a:spcPct val="90000"/>
        </a:lnSpc>
        <a:spcBef>
          <a:spcPts val="1000"/>
        </a:spcBef>
        <a:spcAft>
          <a:spcPts val="0"/>
        </a:spcAft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204866" name="Título 1"/>
          <p:cNvSpPr>
            <a:spLocks noGrp="1" noChangeArrowheads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06651615" name="Subtítulo 2"/>
          <p:cNvSpPr>
            <a:spLocks noGrp="1" noChangeArrowheads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051563271" name="Imagem 4" descr="Gráfico, Gráfico de funil&#10;&#10;Descrição gerada automaticament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487415" name="Imagem 8" descr="Logotipo&#10;&#10;Descrição gerada automaticamente com confiança baix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200108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11821317" name="Espaço Reservado para Conteúdo 4" descr="Gráfico, Gráfico de barras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62458"/>
            <a:ext cx="12192000" cy="6858000"/>
          </a:xfrm>
        </p:spPr>
      </p:pic>
      <p:sp>
        <p:nvSpPr>
          <p:cNvPr id="1981580256" name="Text Box 9"/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defRPr sz="2400" b="1">
                <a:latin typeface="Verdana"/>
              </a:defRPr>
            </a:pPr>
            <a:r>
              <a:t>SHARENTING E A PROTEÇÃO DOS DIREITOS DA CRIANÇA E DO ADOLESCENTE</a:t>
            </a:r>
          </a:p>
        </p:txBody>
      </p:sp>
      <p:sp>
        <p:nvSpPr>
          <p:cNvPr id="1166882891" name="Text Box 9"/>
          <p:cNvSpPr txBox="1">
            <a:spLocks noChangeArrowheads="1"/>
          </p:cNvSpPr>
          <p:nvPr/>
        </p:nvSpPr>
        <p:spPr bwMode="auto">
          <a:xfrm>
            <a:off x="7927673" y="2237460"/>
            <a:ext cx="3303666" cy="20147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defRPr sz="1200" b="1">
                <a:latin typeface="Verdana"/>
              </a:defRPr>
            </a:pPr>
            <a:r>
              <a:rPr dirty="0" err="1"/>
              <a:t>Profa</a:t>
            </a:r>
            <a:r>
              <a:rPr dirty="0"/>
              <a:t>. Isabella Luiza dos Santos Souza</a:t>
            </a:r>
          </a:p>
          <a:p>
            <a:pPr>
              <a:spcAft>
                <a:spcPts val="600"/>
              </a:spcAft>
              <a:defRPr sz="1200" b="0">
                <a:latin typeface="Verdana"/>
              </a:defRPr>
            </a:pPr>
            <a:endParaRPr dirty="0"/>
          </a:p>
          <a:p>
            <a:pPr>
              <a:spcAft>
                <a:spcPts val="600"/>
              </a:spcAft>
              <a:defRPr sz="1200" b="0">
                <a:latin typeface="Verdana"/>
              </a:defRPr>
            </a:pPr>
            <a:r>
              <a:rPr dirty="0"/>
              <a:t>Sabrina Alves De Souza</a:t>
            </a:r>
          </a:p>
          <a:p>
            <a:pPr>
              <a:spcAft>
                <a:spcPts val="600"/>
              </a:spcAft>
              <a:defRPr sz="1200" b="0">
                <a:latin typeface="Verdana"/>
              </a:defRPr>
            </a:pPr>
            <a:r>
              <a:rPr dirty="0"/>
              <a:t>CRM:04975068-2</a:t>
            </a:r>
          </a:p>
          <a:p>
            <a:pPr>
              <a:spcAft>
                <a:spcPts val="599"/>
              </a:spcAft>
              <a:defRPr sz="1200" b="0">
                <a:latin typeface="Verdana"/>
              </a:defRPr>
            </a:pPr>
            <a:endParaRPr dirty="0"/>
          </a:p>
          <a:p>
            <a:pPr>
              <a:spcAft>
                <a:spcPts val="600"/>
              </a:spcAft>
              <a:defRPr sz="1200" b="0">
                <a:latin typeface="Verdana"/>
              </a:defRPr>
            </a:pPr>
            <a:r>
              <a:rPr dirty="0" err="1"/>
              <a:t>Mirian</a:t>
            </a:r>
            <a:r>
              <a:rPr sz="1050" b="1" i="0" u="none" dirty="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 Fernanda Alves de Oliveira</a:t>
            </a:r>
            <a:endParaRPr dirty="0"/>
          </a:p>
          <a:p>
            <a:pPr>
              <a:spcAft>
                <a:spcPts val="599"/>
              </a:spcAft>
              <a:defRPr sz="1200" b="0">
                <a:latin typeface="Verdana"/>
              </a:defRPr>
            </a:pPr>
            <a:r>
              <a:rPr dirty="0"/>
              <a:t>CRM:</a:t>
            </a:r>
            <a:r>
              <a:rPr lang="pt-BR" dirty="0"/>
              <a:t>49470418</a:t>
            </a:r>
            <a:endParaRPr dirty="0"/>
          </a:p>
        </p:txBody>
      </p:sp>
      <p:sp>
        <p:nvSpPr>
          <p:cNvPr id="566520224" name="Text Box 9"/>
          <p:cNvSpPr txBox="1">
            <a:spLocks noChangeArrowheads="1"/>
          </p:cNvSpPr>
          <p:nvPr/>
        </p:nvSpPr>
        <p:spPr bwMode="auto">
          <a:xfrm>
            <a:off x="8156454" y="6026520"/>
            <a:ext cx="4035544" cy="5185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defRPr sz="1400" b="1">
                <a:latin typeface="Verdana"/>
              </a:defRPr>
            </a:pPr>
            <a:r>
              <a:t>ANALISE E DESENVOLVIMENTO DE SISTEMAS</a:t>
            </a:r>
          </a:p>
        </p:txBody>
      </p:sp>
      <p:sp>
        <p:nvSpPr>
          <p:cNvPr id="115781058" name="Text Box 9"/>
          <p:cNvSpPr txBox="1">
            <a:spLocks noChangeArrowheads="1"/>
          </p:cNvSpPr>
          <p:nvPr/>
        </p:nvSpPr>
        <p:spPr bwMode="auto">
          <a:xfrm>
            <a:off x="2823937" y="4371964"/>
            <a:ext cx="3045843" cy="3661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r">
              <a:spcBef>
                <a:spcPts val="0"/>
              </a:spcBef>
              <a:defRPr sz="900" b="1">
                <a:latin typeface="Verdana"/>
              </a:defRPr>
            </a:pPr>
            <a:r>
              <a:t>sharenting • direito de imagem • privacidade infantil</a:t>
            </a:r>
          </a:p>
        </p:txBody>
      </p:sp>
      <p:pic>
        <p:nvPicPr>
          <p:cNvPr id="2050998052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8493362" name="Retângulo 1"/>
          <p:cNvSpPr/>
          <p:nvPr/>
        </p:nvSpPr>
        <p:spPr bwMode="auto"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b="1"/>
            </a:pPr>
            <a:r>
              <a:t>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52885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376110323" name="Espaço Reservado para Conteúdo 4" descr="Gráfico, Gráfico de barras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</p:spPr>
      </p:pic>
      <p:sp>
        <p:nvSpPr>
          <p:cNvPr id="945302803" name="Rectangle 7"/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171450" indent="-171450">
              <a:spcAft>
                <a:spcPts val="600"/>
              </a:spcAft>
              <a:buFont typeface="Wingdings"/>
              <a:buChar char="ü"/>
              <a:defRPr sz="1300" b="1">
                <a:latin typeface="Verdana"/>
              </a:defRPr>
            </a:pPr>
            <a:r>
              <a:t>PROBLEMÁTICA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Superexposição de crianças e adolescentes nas redes sociais pelos próprios pais.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Conflito entre poder familiar, privacidade e direito à imagem.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endParaRPr sz="1300">
              <a:latin typeface="Verdana"/>
            </a:endParaRPr>
          </a:p>
          <a:p>
            <a:pPr>
              <a:spcAft>
                <a:spcPts val="600"/>
              </a:spcAft>
              <a:defRPr sz="1300" b="1">
                <a:latin typeface="Verdana"/>
              </a:defRPr>
            </a:pPr>
            <a:r>
              <a:t>JUSTIFICATIVA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Necessidade de proteger o melhor interesse da criança no ambiente digital.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Riscos jurídicos e comportamentais decorrentes da exposição constante.</a:t>
            </a:r>
            <a:endParaRPr/>
          </a:p>
        </p:txBody>
      </p:sp>
      <p:pic>
        <p:nvPicPr>
          <p:cNvPr id="1740101085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5019891" name="Text Box 9"/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INTRODUÇÃO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128022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244109145" name="Espaço Reservado para Conteúdo 4" descr="Gráfico, Gráfico de barras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</p:spPr>
      </p:pic>
      <p:sp>
        <p:nvSpPr>
          <p:cNvPr id="1068371689" name="Rectangle 7"/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171450" indent="-171450">
              <a:spcAft>
                <a:spcPts val="600"/>
              </a:spcAft>
              <a:buFont typeface="Wingdings"/>
              <a:buChar char="ü"/>
              <a:defRPr sz="1300" b="1">
                <a:latin typeface="Verdana"/>
              </a:defRPr>
            </a:pPr>
            <a:r>
              <a:t>OBJETIVO GERAL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Investigar como o sharenting e o uso comercial das publicações podem violar os direitos de crianças e adolescentes.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endParaRPr sz="1300">
              <a:latin typeface="Verdana"/>
            </a:endParaRP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t>OBJETIVOS ESPECÍFICOS</a:t>
            </a:r>
          </a:p>
          <a:p>
            <a:pPr>
              <a:spcAft>
                <a:spcPts val="600"/>
              </a:spcAft>
              <a:defRPr sz="1300" b="1">
                <a:latin typeface="Verdana"/>
              </a:defRPr>
            </a:pPr>
            <a:r>
              <a:rPr sz="1300">
                <a:latin typeface="Verdana"/>
              </a:rPr>
              <a:t>Analisar os impactos da superexposição na privacidade e no direito de imagem.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Examinar os limites do poder dos pais sobre a exposição dos filhos.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Identificar riscos ligados ao trabalho infantil digital e à adultização.</a:t>
            </a:r>
            <a:endParaRPr/>
          </a:p>
        </p:txBody>
      </p:sp>
      <p:pic>
        <p:nvPicPr>
          <p:cNvPr id="1554001243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8781604" name="Text Box 9"/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INTRODUÇÃO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182914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551710521" name="Espaço Reservado para Conteúdo 4" descr="Gráfico, Gráfico de barras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  <p:pic>
        <p:nvPicPr>
          <p:cNvPr id="1515821245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389752" name="Text Box 9"/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ts val="0"/>
              </a:spcBef>
              <a:defRPr sz="3000" b="1">
                <a:solidFill>
                  <a:srgbClr val="153553"/>
                </a:solidFill>
                <a:latin typeface="Verdana"/>
                <a:ea typeface="ＭＳ Ｐゴシック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>
              <a:spcBef>
                <a:spcPts val="0"/>
              </a:spcBef>
              <a:spcAft>
                <a:spcPts val="0"/>
              </a:spcAft>
            </a:lvl6pPr>
            <a:lvl7pPr marL="2971800" indent="-228600">
              <a:spcBef>
                <a:spcPts val="0"/>
              </a:spcBef>
              <a:spcAft>
                <a:spcPts val="0"/>
              </a:spcAft>
            </a:lvl7pPr>
            <a:lvl8pPr marL="3429000" indent="-228600">
              <a:spcBef>
                <a:spcPts val="0"/>
              </a:spcBef>
              <a:spcAft>
                <a:spcPts val="0"/>
              </a:spcAft>
            </a:lvl8pPr>
            <a:lvl9pPr marL="3886200" indent="-228600">
              <a:spcBef>
                <a:spcPts val="0"/>
              </a:spcBef>
              <a:spcAft>
                <a:spcPts val="0"/>
              </a:spcAft>
            </a:lvl9pPr>
          </a:lstStyle>
          <a:p>
            <a:pPr>
              <a:defRPr/>
            </a:pPr>
            <a:r>
              <a:rPr lang="pt-BR"/>
              <a:t>METODOLOGIA/MÉTODO DA PESQUISA</a:t>
            </a:r>
            <a:endParaRPr/>
          </a:p>
        </p:txBody>
      </p:sp>
      <p:sp>
        <p:nvSpPr>
          <p:cNvPr id="222080758" name="Rectangle 7"/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spcAft>
                <a:spcPts val="600"/>
              </a:spcAft>
              <a:buNone/>
              <a:defRPr sz="1800" b="0">
                <a:latin typeface="Segoe UI"/>
              </a:defRPr>
            </a:pPr>
            <a:r>
              <a:t>É uma abordagem qualitativa, de natureza teórica, sem procedimentos práticos e baseados em referenciais teóricos.</a:t>
            </a:r>
            <a:endParaRPr lang="pt-BR" sz="180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59346" name="Espaço Reservado para Conteúdo 4" descr="Gráfico, Gráfico de barras&#10;&#10;Descrição gerada automaticament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4793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8424680" name="Text Box 9"/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FUNDAMENTAÇÃO TEÓRICA</a:t>
            </a:r>
            <a:endParaRPr/>
          </a:p>
        </p:txBody>
      </p:sp>
      <p:sp>
        <p:nvSpPr>
          <p:cNvPr id="623648826" name="Rectangle 7"/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171450" indent="-171450">
              <a:spcAft>
                <a:spcPts val="600"/>
              </a:spcAft>
              <a:buFont typeface="Wingdings"/>
              <a:buChar char="ü"/>
              <a:defRPr sz="1300" b="1">
                <a:latin typeface="Verdana"/>
              </a:defRPr>
            </a:pPr>
            <a:r>
              <a:t>SHARENTING — BERTI E FACHIN (2021)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Exposição da imagem e informações de crianças pelos próprios genitores.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Direito à imagem e à privacidade como direitos da personalidade.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endParaRPr sz="1300">
              <a:latin typeface="Verdana"/>
            </a:endParaRPr>
          </a:p>
          <a:p>
            <a:pPr>
              <a:spcAft>
                <a:spcPts val="600"/>
              </a:spcAft>
              <a:defRPr sz="1300" b="1">
                <a:latin typeface="Verdana"/>
              </a:defRPr>
            </a:pPr>
            <a:r>
              <a:t>PROTEÇÃO DE DADOS — OLIVEIRA E NATIVIDADE (2026)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Compartilhamento constante gera riscos reais no ambiente digital.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LGPD e proteção da criança diante da exposição online.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474703" name="Espaço Reservado para Conteúdo 4" descr="Gráfico, Gráfico de barras&#10;&#10;Descrição gerada automaticament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870923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7735199" name="Text Box 9"/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FUNDAMENTAÇÃO TEÓRICA</a:t>
            </a:r>
            <a:endParaRPr/>
          </a:p>
        </p:txBody>
      </p:sp>
      <p:sp>
        <p:nvSpPr>
          <p:cNvPr id="334168313" name="Rectangle 7"/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171450" indent="-171450">
              <a:spcAft>
                <a:spcPts val="600"/>
              </a:spcAft>
              <a:buFont typeface="Wingdings"/>
              <a:buChar char="ü"/>
              <a:defRPr sz="1300" b="1">
                <a:latin typeface="Verdana"/>
              </a:defRPr>
            </a:pPr>
            <a:r>
              <a:t>USO COMERCIAL DA IMAGEM — YONEDA (2024)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Monetização da rotina dos filhos ultrapassa o sharenting comum.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Possível caracterização como trabalho infantil artístico sem autorização.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endParaRPr sz="1300">
              <a:latin typeface="Verdana"/>
            </a:endParaRPr>
          </a:p>
          <a:p>
            <a:pPr>
              <a:spcAft>
                <a:spcPts val="600"/>
              </a:spcAft>
              <a:defRPr sz="1300" b="1">
                <a:latin typeface="Verdana"/>
              </a:defRPr>
            </a:pPr>
            <a:r>
              <a:t>ADULTIZAÇÃO DIGITAL — OLIVEIRA E NATIVIDADE (2026)</a:t>
            </a:r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Curtidas e algoritmos podem estimular comportamentos inadequados à idade.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Cyberbullying, acesso de pessoas mal-intencionadas e falhas de fiscalização.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4644679" name="Espaço Reservado para Conteúdo 4" descr="Gráfico, Gráfico de barras&#10;&#10;Descrição gerada automaticament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997039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10298112" y="6154736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0024590" name="Text Box 9"/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CONSIDERAÇÕES FINAIS</a:t>
            </a:r>
            <a:endParaRPr/>
          </a:p>
        </p:txBody>
      </p:sp>
      <p:sp>
        <p:nvSpPr>
          <p:cNvPr id="1773312707" name="Rectangle 7"/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171450" indent="-171450">
              <a:spcAft>
                <a:spcPts val="600"/>
              </a:spcAft>
              <a:buFont typeface="Wingdings"/>
              <a:buChar char="ü"/>
              <a:defRPr sz="1300" b="0">
                <a:latin typeface="Verdana"/>
              </a:defRPr>
            </a:pPr>
            <a:r>
              <a:rPr sz="1300">
                <a:latin typeface="Verdana"/>
              </a:rPr>
              <a:t>A exposição exagerada pode ferir a privacidade e prejudicar o desenvolvimento infantil.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O cuidado parental deve priorizar proteção, e não exploração.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O uso comercial da imagem amplia os riscos jurídicos e trabalhistas.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Há necessidade de limites ao poder dos pais e de maior fiscalização das plataformas.</a:t>
            </a:r>
            <a:endParaRPr/>
          </a:p>
          <a:p>
            <a:pPr>
              <a:spcAft>
                <a:spcPts val="600"/>
              </a:spcAft>
              <a:defRPr sz="1300" b="0">
                <a:latin typeface="Verdana"/>
              </a:defRPr>
            </a:pPr>
            <a:r>
              <a:rPr sz="1300">
                <a:latin typeface="Verdana"/>
              </a:rPr>
              <a:t>A ausência de pesquisa de campo limita os resultados e indica a necessidade de estudos futuros.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429041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673245099" name="Espaço Reservado para Conteúdo 4" descr="Gráfico, Gráfico de barras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10800000">
            <a:off x="0" y="0"/>
            <a:ext cx="12192000" cy="6858000"/>
          </a:xfrm>
        </p:spPr>
      </p:pic>
      <p:sp>
        <p:nvSpPr>
          <p:cNvPr id="385706962" name="Rectangle 7"/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>
              <a:spcAft>
                <a:spcPts val="600"/>
              </a:spcAft>
              <a:buNone/>
              <a:defRPr sz="1000" b="0">
                <a:latin typeface="Verdana"/>
              </a:defRPr>
            </a:pPr>
            <a:r>
              <a:t>BERTI, Luiza Gabriella; FACHIN, Zulmar Antonio. Sharenting: violação do direito de imagem das crianças e adolescentes pelos próprios genitores na era digital. Revista de Direito de Família e Sucessão, v. 7, n. 1, p. 95–113, 2021. DOI: 10.26668/IndexLawJournals/2526-0227/2021.v7i1.7784.</a:t>
            </a:r>
            <a:endParaRPr lang="pt-BR" sz="1400">
              <a:latin typeface="Verdana"/>
              <a:ea typeface="Verdana"/>
            </a:endParaRPr>
          </a:p>
          <a:p>
            <a:pPr>
              <a:spcAft>
                <a:spcPts val="600"/>
              </a:spcAft>
              <a:defRPr sz="1000" b="0">
                <a:latin typeface="Verdana"/>
              </a:defRPr>
            </a:pPr>
            <a:r>
              <a:t>OLIVEIRA; NATIVIDADE. Trabalho citado no resumo fornecido: publicação de 2026. Dados bibliográficos completos não constam no DOCX.</a:t>
            </a:r>
          </a:p>
          <a:p>
            <a:pPr>
              <a:spcAft>
                <a:spcPts val="600"/>
              </a:spcAft>
              <a:defRPr sz="1000" b="0">
                <a:latin typeface="Verdana"/>
              </a:defRPr>
            </a:pPr>
            <a:r>
              <a:t>YONEDA, Beatriz Catalano. O direito de imagem para fins comerciais e a proteção da imagem da criança e do adolescente. Trabalho de Conclusão de Curso (Bacharelado em Direito) — Pontifícia Universidade Católica de São Paulo, São Paulo, 2024.</a:t>
            </a:r>
          </a:p>
        </p:txBody>
      </p:sp>
      <p:pic>
        <p:nvPicPr>
          <p:cNvPr id="1647309333" name="Imagem 6" descr="Logotipo&#10;&#10;Descrição gerada automaticamente com confiança médi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080791" name="Text Box 9"/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REFERÊNCIA BIBLIOGRÁFICA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882723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000331478" name="Espaço Reservado para Conteúdo 4" descr="Uma imagem contendo Retângulo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  <p:sp>
        <p:nvSpPr>
          <p:cNvPr id="563083901" name="Text Box 6"/>
          <p:cNvSpPr txBox="1">
            <a:spLocks noChangeArrowheads="1"/>
          </p:cNvSpPr>
          <p:nvPr/>
        </p:nvSpPr>
        <p:spPr bwMode="auto">
          <a:xfrm>
            <a:off x="2743200" y="2471737"/>
            <a:ext cx="6716399" cy="1006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defRPr sz="2800" i="1">
                <a:solidFill>
                  <a:srgbClr val="FFFFFF"/>
                </a:solidFill>
                <a:latin typeface="Verdana"/>
              </a:defRPr>
            </a:pPr>
            <a:r>
              <a:t>Obrigada pela atenção!</a:t>
            </a:r>
            <a:endParaRPr lang="en-US" sz="3200" i="1">
              <a:solidFill>
                <a:schemeClr val="bg1"/>
              </a:solidFill>
              <a:latin typeface="Verdana"/>
            </a:endParaRPr>
          </a:p>
          <a:p>
            <a:pPr algn="ctr">
              <a:defRPr/>
            </a:pPr>
            <a:r>
              <a:rPr lang="en-US" sz="3200" i="1">
                <a:solidFill>
                  <a:schemeClr val="bg1"/>
                </a:solidFill>
                <a:latin typeface="Verdana"/>
              </a:rPr>
              <a:t>   </a:t>
            </a:r>
            <a:r>
              <a:rPr lang="pt-BR" sz="3200" i="1">
                <a:solidFill>
                  <a:schemeClr val="bg1"/>
                </a:solidFill>
                <a:latin typeface="Verdana"/>
              </a:rPr>
              <a:t>E proteja suas crianças</a:t>
            </a:r>
            <a:r>
              <a:rPr lang="en-US" sz="3200" i="1">
                <a:solidFill>
                  <a:schemeClr val="bg1"/>
                </a:solidFill>
                <a:latin typeface="Verdana"/>
              </a:rPr>
              <a:t>”</a:t>
            </a:r>
            <a:endParaRPr lang="pt-BR" sz="3200">
              <a:solidFill>
                <a:srgbClr val="002D55"/>
              </a:solidFill>
              <a:latin typeface="Verdana"/>
              <a:ea typeface="ＭＳ Ｐ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383413" name="Título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1976178217" name="Espaço Reservado para Conteúdo 4" descr="Uma imagem contendo Forma&#10;&#10;Descrição gerada automaticamen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  <p:pic>
        <p:nvPicPr>
          <p:cNvPr id="1163302455" name="Imagem 6" descr="Logotipo&#10;&#10;Descrição gerada automaticamente com confiança baix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F83A29-13EE-4815-B05B-F624D2D1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489FC981-A3CB-423C-A335-20D9A85EFD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520</Words>
  <Application>Microsoft Office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MIRIAM</cp:lastModifiedBy>
  <cp:revision>24</cp:revision>
  <dcterms:created xsi:type="dcterms:W3CDTF">2021-05-14T17:32:15Z</dcterms:created>
  <dcterms:modified xsi:type="dcterms:W3CDTF">2026-10-14T23:25:32Z</dcterms:modified>
</cp:coreProperties>
</file>